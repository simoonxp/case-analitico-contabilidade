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Total de empresas abertas por ano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anual de aberturas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140009</c:v>
                </c:pt>
                <c:pt idx="1">
                  <c:v>170235</c:v>
                </c:pt>
                <c:pt idx="2">
                  <c:v>178132</c:v>
                </c:pt>
                <c:pt idx="3">
                  <c:v>236230</c:v>
                </c:pt>
                <c:pt idx="4">
                  <c:v>245241</c:v>
                </c:pt>
                <c:pt idx="5">
                  <c:v>240302</c:v>
                </c:pt>
                <c:pt idx="6">
                  <c:v>288281</c:v>
                </c:pt>
                <c:pt idx="7">
                  <c:v>335196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Projeção mensal de abertura de empresas —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Projeção 2026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28844</c:v>
                </c:pt>
                <c:pt idx="1">
                  <c:v>30913</c:v>
                </c:pt>
                <c:pt idx="2">
                  <c:v>33450</c:v>
                </c:pt>
                <c:pt idx="3">
                  <c:v>29747</c:v>
                </c:pt>
                <c:pt idx="4">
                  <c:v>31405</c:v>
                </c:pt>
                <c:pt idx="5">
                  <c:v>30898</c:v>
                </c:pt>
                <c:pt idx="6">
                  <c:v>34357</c:v>
                </c:pt>
                <c:pt idx="7">
                  <c:v>34168</c:v>
                </c:pt>
                <c:pt idx="8">
                  <c:v>31659</c:v>
                </c:pt>
                <c:pt idx="9">
                  <c:v>32420</c:v>
                </c:pt>
                <c:pt idx="10">
                  <c:v>29338</c:v>
                </c:pt>
                <c:pt idx="11">
                  <c:v>26210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00000"/>
                </a:solidFill>
                <a:latin typeface="Calibri"/>
              </a:rPr>
              <a:t>Erro médio não explicado por tendência + sazonalidade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 médio não explicado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6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3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Mercado
Total</c:v>
                  </c:pt>
                  <c:pt idx="1">
                    <c:v>Cidade A</c:v>
                  </c:pt>
                  <c:pt idx="2">
                    <c:v>Cidade B</c:v>
                  </c:pt>
                  <c:pt idx="3">
                    <c:v>Setor X
(Arquitetura)</c:v>
                  </c:pt>
                  <c:pt idx="4">
                    <c:v>Setor Y
(Psicologia)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8.6</c:v>
                </c:pt>
                <c:pt idx="2">
                  <c:v>9.1</c:v>
                </c:pt>
                <c:pt idx="3">
                  <c:v>13.8</c:v>
                </c:pt>
                <c:pt idx="4">
                  <c:v>17.4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3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 mensal de vendas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3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5769</c:v>
                </c:pt>
                <c:pt idx="1">
                  <c:v>6180</c:v>
                </c:pt>
                <c:pt idx="2">
                  <c:v>6690</c:v>
                </c:pt>
                <c:pt idx="3">
                  <c:v>5950</c:v>
                </c:pt>
                <c:pt idx="4">
                  <c:v>6279</c:v>
                </c:pt>
                <c:pt idx="5">
                  <c:v>6180</c:v>
                </c:pt>
                <c:pt idx="6">
                  <c:v>6871</c:v>
                </c:pt>
                <c:pt idx="7">
                  <c:v>6833</c:v>
                </c:pt>
                <c:pt idx="8">
                  <c:v>6329</c:v>
                </c:pt>
                <c:pt idx="9">
                  <c:v>6485</c:v>
                </c:pt>
                <c:pt idx="10">
                  <c:v>5869</c:v>
                </c:pt>
                <c:pt idx="11">
                  <c:v>5240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3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C3F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457200"/>
            <a:ext cx="2743200" cy="2743200"/>
          </a:xfrm>
          <a:prstGeom prst="ellipse">
            <a:avLst/>
          </a:prstGeom>
          <a:solidFill>
            <a:srgbClr val="5CE6D6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Analítico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de Mercado, Diagnóstico de Incerteza e Estratégia de Aquisição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pessoal de análise de dados aplicada a um estudo de caso do setor de contabilidade digital no Brasil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Simon Feitosa Fernandes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Histórico (2018–2025)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mensal de abertura de empresas no Brasil — todas as cidades e setores (dados de mercado agregados)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40480" cy="2880360"/>
          </a:xfrm>
          <a:prstGeom prst="roundRect">
            <a:avLst>
              <a:gd name="adj" fmla="val 3810"/>
            </a:avLst>
          </a:prstGeom>
          <a:solidFill>
            <a:srgbClr val="F2F6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664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mostram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46720" y="2176272"/>
            <a:ext cx="109728" cy="109728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75320" y="202996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consistente: de 140 mil (2018) para 335 mil (2025) aberturas/ano.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0" y="2953512"/>
            <a:ext cx="109728" cy="109728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280720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clara: julho e agosto são os meses de pico; dezembro é o mais fraco.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46720" y="3730752"/>
            <a:ext cx="109728" cy="109728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75320" y="358444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atípico em 2025, com queda anômala em dez/25 (-19% vs. média histórica de -8,8% nov→dez) — possível atraso de registro.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2026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38160" y="384048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84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PREDITIVA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 + taxa de crescimento média (2023-2025) aplicadas sobre o total de 2025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040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206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51937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373.408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715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projetadas em 2026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23360" y="512064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023360" y="5193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334 mil – 413 mil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5715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confiança (±desvio padrão)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0" y="1417320"/>
            <a:ext cx="3840480" cy="3703320"/>
          </a:xfrm>
          <a:prstGeom prst="roundRect">
            <a:avLst>
              <a:gd name="adj" fmla="val 2963"/>
            </a:avLst>
          </a:prstGeom>
          <a:solidFill>
            <a:srgbClr val="F2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do modelo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2203704"/>
            <a:ext cx="109728" cy="109728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75320" y="207568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total de 2025 (335.196) × taxa de crescimento média dos últimos 3 anos (11,4%).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3026664"/>
            <a:ext cx="109728" cy="109728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75320" y="289864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Sazonalidade: índice mensal calculado sobre a média histórica de cada mês (2018-2025).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46720" y="3849624"/>
            <a:ext cx="109728" cy="109728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75320" y="372160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Dez/2025 mantido no valor bruto, mesmo com queda atípica — tratado como limitação conhecida.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46720" y="4672584"/>
            <a:ext cx="109728" cy="109728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75320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confiança construído a partir do desvio padrão da taxa de crescimento anual.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Incerteza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38160" y="384048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84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do modelo (tendência + sazonalidade) vs. valor real, por corte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417320"/>
            <a:ext cx="4114800" cy="4251960"/>
          </a:xfrm>
          <a:prstGeom prst="roundRect">
            <a:avLst>
              <a:gd name="adj" fmla="val 2667"/>
            </a:avLst>
          </a:prstGeom>
          <a:solidFill>
            <a:srgbClr val="F2F6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1627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mais difícil de prever: 'Setor Y' (Psicologia)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331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curta?  </a:t>
            </a:r>
            <a:pPr indent="0" marL="0"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 — mesmos 8 anos de dados que os outros setores.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2918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histórica?  </a:t>
            </a:r>
            <a:pPr indent="0" marL="0"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— crescimento anual varia de +16% a +90%, sem repetir padrão.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42519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sazonalidade clara?  </a:t>
            </a:r>
            <a:pPr indent="0" marL="0"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— formato sazonal muda ~2x mais entre anos do que em setores estáveis.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provável: mudança estrutural no setor — nova regulamentação de atendimento remoto + aumento estrutural de demanda.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de Market Share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38160" y="384048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84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ESTRATÉGICO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necessárias em 2026 para atingir 20% de participação no mercado projetado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6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373.408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total projetado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14630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069080" y="14630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6908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20%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market share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adotada no estudo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4630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589520" y="14630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74.682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necessárias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2026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00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mensal implícita (aplicando os mesmos índices sazonais da projeção)</a:t>
            </a:r>
            <a:endParaRPr lang="en-US" sz="12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566160"/>
          <a:ext cx="7040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772400" y="3566160"/>
            <a:ext cx="3840480" cy="2651760"/>
          </a:xfrm>
          <a:prstGeom prst="roundRect">
            <a:avLst>
              <a:gd name="adj" fmla="val 4138"/>
            </a:avLst>
          </a:prstGeom>
          <a:solidFill>
            <a:srgbClr val="F2F6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0100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pragmática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2062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anual (74.682) é o número confiável — é onde cabe uma meta de negócio.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mensal serve para planejamento operacional (ex: reforçar equipe em jul/ago, meses de pico), não como compromisso rígido mês a mês — a própria análise de incerteza mostrou que estimativas mensais têm mais incerteza que a anual.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Aquisição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38160" y="347472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47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na análise de canais públicos típicos de uma contabilidade digital (site, redes sociais)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60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profissional (ex: LinkedIn) → público de decisão racional e planejada: TI/DEV, Consultoria, Advocacia.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visual + atendimento direto (ex: Instagram + WhatsApp) → público de decisão rápida: Medicina, Psicologia.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600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560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Defender: setores que já têm grande volume hoje (2º e 3º maiores, ~30-38 mil aberturas/ano cada).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Capturar: setor com maior aceleração de crescimento, ligado a uma mudança regulatória recente identificada na análise de incerteza.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600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560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racional: economia de impostos.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em transformação regulatória: oportunidade — legalize o novo modelo de atendimento.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conservador/ticket alto: confiança e prova social.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9720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2F6F7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8320" y="1600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2560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investimento nos 2 meses anteriores ao pico sazonal identificado na projeção — capturar a demanda antes da concorrência.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C3F6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5CE6D6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pessoal de análise de dados, modelagem preditiva e raciocínio estratégico.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Simon Feitosa Fernandes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2026-09-17T21:02:05Z</dcterms:created>
  <dcterms:modified xsi:type="dcterms:W3CDTF">2026-09-17T21:02:05Z</dcterms:modified>
</cp:coreProperties>
</file>